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2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011680"/>
            <a:ext cx="5486400" cy="5486400"/>
          </a:xfrm>
          <a:prstGeom prst="ellipse">
            <a:avLst/>
          </a:prstGeom>
          <a:solidFill>
            <a:srgbClr val="B8912E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3474720"/>
            <a:ext cx="3657600" cy="3657600"/>
          </a:xfrm>
          <a:prstGeom prst="ellipse">
            <a:avLst/>
          </a:prstGeom>
          <a:solidFill>
            <a:srgbClr val="E8C766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17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FB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CONTINUATION OF "TYPES OF APIS"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82880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731520" y="306324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D9D4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Context Protocol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31520" y="3977640"/>
            <a:ext cx="7498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D9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AI agents needed a new protocol beyond REST APIs — and how it actually works under the hood.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5074920"/>
            <a:ext cx="1197864" cy="384048"/>
          </a:xfrm>
          <a:prstGeom prst="roundRect">
            <a:avLst>
              <a:gd name="adj" fmla="val 50000"/>
            </a:avLst>
          </a:prstGeom>
          <a:solidFill>
            <a:srgbClr val="B8912E">
              <a:alpha val="25000"/>
            </a:srgbClr>
          </a:solidFill>
          <a:ln w="12700">
            <a:solidFill>
              <a:srgbClr val="D9BE7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5074920"/>
            <a:ext cx="11978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093976" y="5074920"/>
            <a:ext cx="1197864" cy="384048"/>
          </a:xfrm>
          <a:prstGeom prst="roundRect">
            <a:avLst>
              <a:gd name="adj" fmla="val 50000"/>
            </a:avLst>
          </a:prstGeom>
          <a:solidFill>
            <a:srgbClr val="B8912E">
              <a:alpha val="25000"/>
            </a:srgbClr>
          </a:solidFill>
          <a:ln w="12700">
            <a:solidFill>
              <a:srgbClr val="D9BE7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93976" y="5074920"/>
            <a:ext cx="11978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Clients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56432" y="5074920"/>
            <a:ext cx="1280160" cy="384048"/>
          </a:xfrm>
          <a:prstGeom prst="roundRect">
            <a:avLst>
              <a:gd name="adj" fmla="val 50000"/>
            </a:avLst>
          </a:prstGeom>
          <a:solidFill>
            <a:srgbClr val="B8912E">
              <a:alpha val="25000"/>
            </a:srgbClr>
          </a:solidFill>
          <a:ln w="12700">
            <a:solidFill>
              <a:srgbClr val="D9BE7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56432" y="507492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JSON-RPC 2.0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901184" y="5074920"/>
            <a:ext cx="1280160" cy="384048"/>
          </a:xfrm>
          <a:prstGeom prst="roundRect">
            <a:avLst>
              <a:gd name="adj" fmla="val 50000"/>
            </a:avLst>
          </a:prstGeom>
          <a:solidFill>
            <a:srgbClr val="B8912E">
              <a:alpha val="25000"/>
            </a:srgbClr>
          </a:solidFill>
          <a:ln w="12700">
            <a:solidFill>
              <a:srgbClr val="D9BE7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01184" y="507492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345936" y="5074920"/>
            <a:ext cx="1115568" cy="384048"/>
          </a:xfrm>
          <a:prstGeom prst="roundRect">
            <a:avLst>
              <a:gd name="adj" fmla="val 50000"/>
            </a:avLst>
          </a:prstGeom>
          <a:solidFill>
            <a:srgbClr val="B8912E">
              <a:alpha val="25000"/>
            </a:srgbClr>
          </a:solidFill>
          <a:ln w="12700">
            <a:solidFill>
              <a:srgbClr val="D9BE7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45936" y="5074920"/>
            <a:ext cx="11155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9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02152" cy="2148840"/>
          </a:xfrm>
          <a:prstGeom prst="roundRect">
            <a:avLst>
              <a:gd name="adj" fmla="val 3404"/>
            </a:avLst>
          </a:prstGeom>
          <a:solidFill>
            <a:srgbClr val="F2F2F0"/>
          </a:solidFill>
          <a:ln/>
          <a:effectLst>
            <a:outerShdw sx="100000" sy="100000" kx="0" ky="0" algn="bl" rotWithShape="0" blurRad="101600" dist="38100" dir="5400000">
              <a:srgbClr val="1E1B3A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74520"/>
            <a:ext cx="548640" cy="548640"/>
          </a:xfrm>
          <a:prstGeom prst="ellipse">
            <a:avLst/>
          </a:prstGeom>
          <a:solidFill>
            <a:srgbClr val="B8912E"/>
          </a:solidFill>
          <a:ln/>
        </p:spPr>
      </p:sp>
      <p:pic>
        <p:nvPicPr>
          <p:cNvPr id="6" name="Image 0" descr="icons/problem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2002536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560320"/>
            <a:ext cx="2953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MCP Exists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2971800"/>
            <a:ext cx="29535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44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with APIs + reasoning models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25112" y="1600200"/>
            <a:ext cx="3502152" cy="2148840"/>
          </a:xfrm>
          <a:prstGeom prst="roundRect">
            <a:avLst>
              <a:gd name="adj" fmla="val 3404"/>
            </a:avLst>
          </a:prstGeom>
          <a:solidFill>
            <a:srgbClr val="F2F2F0"/>
          </a:solidFill>
          <a:ln/>
          <a:effectLst>
            <a:outerShdw sx="100000" sy="100000" kx="0" ky="0" algn="bl" rotWithShape="0" blurRad="101600" dist="38100" dir="5400000">
              <a:srgbClr val="1E1B3A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99432" y="187452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icons/exchange_viol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7448" y="2002536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9432" y="2560320"/>
            <a:ext cx="2953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APIs vs MCP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99432" y="2971800"/>
            <a:ext cx="29535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44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distinction between the two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01584" y="1600200"/>
            <a:ext cx="3502152" cy="2148840"/>
          </a:xfrm>
          <a:prstGeom prst="roundRect">
            <a:avLst>
              <a:gd name="adj" fmla="val 3404"/>
            </a:avLst>
          </a:prstGeom>
          <a:solidFill>
            <a:srgbClr val="F2F2F0"/>
          </a:solidFill>
          <a:ln/>
          <a:effectLst>
            <a:outerShdw sx="100000" sy="100000" kx="0" ky="0" algn="bl" rotWithShape="0" blurRad="101600" dist="38100" dir="5400000">
              <a:srgbClr val="1E1B3A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75904" y="187452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icons/server_viol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2002536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75904" y="2560320"/>
            <a:ext cx="2953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375904" y="2971800"/>
            <a:ext cx="29535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44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Hosts, clients, servers &amp; transports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4023360"/>
            <a:ext cx="3502152" cy="2148840"/>
          </a:xfrm>
          <a:prstGeom prst="roundRect">
            <a:avLst>
              <a:gd name="adj" fmla="val 3404"/>
            </a:avLst>
          </a:prstGeom>
          <a:solidFill>
            <a:srgbClr val="F2F2F0"/>
          </a:solidFill>
          <a:ln/>
          <a:effectLst>
            <a:outerShdw sx="100000" sy="100000" kx="0" ky="0" algn="bl" rotWithShape="0" blurRad="101600" dist="38100" dir="5400000">
              <a:srgbClr val="1E1B3A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22960" y="4297680"/>
            <a:ext cx="548640" cy="548640"/>
          </a:xfrm>
          <a:prstGeom prst="ellipse">
            <a:avLst/>
          </a:prstGeom>
          <a:solidFill>
            <a:srgbClr val="B8912E"/>
          </a:solidFill>
          <a:ln/>
        </p:spPr>
      </p:sp>
      <p:pic>
        <p:nvPicPr>
          <p:cNvPr id="21" name="Image 3" descr="icons/tools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" y="4425696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22960" y="4983480"/>
            <a:ext cx="2953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Primitives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822960" y="5394960"/>
            <a:ext cx="29535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44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Tools, Resources, and Prompts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325112" y="4023360"/>
            <a:ext cx="3502152" cy="2148840"/>
          </a:xfrm>
          <a:prstGeom prst="roundRect">
            <a:avLst>
              <a:gd name="adj" fmla="val 3404"/>
            </a:avLst>
          </a:prstGeom>
          <a:solidFill>
            <a:srgbClr val="F2F2F0"/>
          </a:solidFill>
          <a:ln/>
          <a:effectLst>
            <a:outerShdw sx="100000" sy="100000" kx="0" ky="0" algn="bl" rotWithShape="0" blurRad="101600" dist="38100" dir="5400000">
              <a:srgbClr val="1E1B3A">
                <a:alpha val="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99432" y="429768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mage 4" descr="icons/layer_viole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7448" y="4425696"/>
            <a:ext cx="292608" cy="29260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99432" y="4983480"/>
            <a:ext cx="2953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 + APIs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4599432" y="5394960"/>
            <a:ext cx="29535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44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one doesn't replace the other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101584" y="4023360"/>
            <a:ext cx="3502152" cy="2148840"/>
          </a:xfrm>
          <a:prstGeom prst="roundRect">
            <a:avLst>
              <a:gd name="adj" fmla="val 3404"/>
            </a:avLst>
          </a:prstGeom>
          <a:solidFill>
            <a:srgbClr val="F2F2F0"/>
          </a:solidFill>
          <a:ln/>
          <a:effectLst>
            <a:outerShdw sx="100000" sy="100000" kx="0" ky="0" algn="bl" rotWithShape="0" blurRad="101600" dist="38100" dir="5400000">
              <a:srgbClr val="1E1B3A">
                <a:alpha val="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75904" y="4297680"/>
            <a:ext cx="548640" cy="548640"/>
          </a:xfrm>
          <a:prstGeom prst="ellipse">
            <a:avLst/>
          </a:prstGeom>
          <a:solidFill>
            <a:srgbClr val="B8912E"/>
          </a:solidFill>
          <a:ln/>
        </p:spPr>
      </p:sp>
      <p:pic>
        <p:nvPicPr>
          <p:cNvPr id="31" name="Image 5" descr="icons/shield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3920" y="4425696"/>
            <a:ext cx="292608" cy="29260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75904" y="4983480"/>
            <a:ext cx="2953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Adoption &amp; Guardrails</a:t>
            </a:r>
            <a:endParaRPr lang="en-US" sz="1600" dirty="0"/>
          </a:p>
        </p:txBody>
      </p:sp>
      <p:sp>
        <p:nvSpPr>
          <p:cNvPr id="33" name="Text 25"/>
          <p:cNvSpPr/>
          <p:nvPr/>
        </p:nvSpPr>
        <p:spPr>
          <a:xfrm>
            <a:off x="8375904" y="5394960"/>
            <a:ext cx="29535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44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Timeline, challenges, and security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FB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9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MCP Exists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60350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444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were built for programs that already know exactly what they want. A model doesn't work that way — it reasons about uncertain inputs, chains tools together, and often needs to discover what's available before it knows what to do.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3200400"/>
            <a:ext cx="6035040" cy="2651760"/>
          </a:xfrm>
          <a:prstGeom prst="roundRect">
            <a:avLst>
              <a:gd name="adj" fmla="val 2759"/>
            </a:avLst>
          </a:prstGeom>
          <a:solidFill>
            <a:srgbClr val="1A1A1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342900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ANALOGY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3794760"/>
            <a:ext cx="53949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D9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traditional API is a locked cabinet — you already need to know which drawer to open and what shape the key is.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D9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is standing in front of that cabinet with no labels. MCP gives it a way to look inside and understand what's there before deciding what to use.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949440" y="1463040"/>
            <a:ext cx="4663440" cy="4389120"/>
          </a:xfrm>
          <a:prstGeom prst="roundRect">
            <a:avLst>
              <a:gd name="adj" fmla="val 1667"/>
            </a:avLst>
          </a:prstGeom>
          <a:solidFill>
            <a:srgbClr val="F2F2F0"/>
          </a:solidFill>
          <a:ln/>
        </p:spPr>
      </p:sp>
      <p:sp>
        <p:nvSpPr>
          <p:cNvPr id="9" name="Text 7"/>
          <p:cNvSpPr/>
          <p:nvPr/>
        </p:nvSpPr>
        <p:spPr>
          <a:xfrm>
            <a:off x="7269480" y="17373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89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REMOVES THE HAND-HOLDING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269480" y="2377440"/>
            <a:ext cx="201168" cy="201168"/>
          </a:xfrm>
          <a:prstGeom prst="ellipse">
            <a:avLst/>
          </a:prstGeom>
          <a:solidFill>
            <a:srgbClr val="B8912E"/>
          </a:solidFill>
          <a:ln/>
        </p:spPr>
      </p:sp>
      <p:sp>
        <p:nvSpPr>
          <p:cNvPr id="11" name="Text 9"/>
          <p:cNvSpPr/>
          <p:nvPr/>
        </p:nvSpPr>
        <p:spPr>
          <a:xfrm>
            <a:off x="7635240" y="2258568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explaining every endpoint in a long prompt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269480" y="3246120"/>
            <a:ext cx="201168" cy="201168"/>
          </a:xfrm>
          <a:prstGeom prst="ellipse">
            <a:avLst/>
          </a:prstGeom>
          <a:solidFill>
            <a:srgbClr val="B8912E"/>
          </a:solidFill>
          <a:ln/>
        </p:spPr>
      </p:sp>
      <p:sp>
        <p:nvSpPr>
          <p:cNvPr id="13" name="Text 11"/>
          <p:cNvSpPr/>
          <p:nvPr/>
        </p:nvSpPr>
        <p:spPr>
          <a:xfrm>
            <a:off x="7635240" y="3127248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Re-writing integration glue code per tool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269480" y="4114800"/>
            <a:ext cx="201168" cy="201168"/>
          </a:xfrm>
          <a:prstGeom prst="ellipse">
            <a:avLst/>
          </a:prstGeom>
          <a:solidFill>
            <a:srgbClr val="B8912E"/>
          </a:solidFill>
          <a:ln/>
        </p:spPr>
      </p:sp>
      <p:sp>
        <p:nvSpPr>
          <p:cNvPr id="15" name="Text 13"/>
          <p:cNvSpPr/>
          <p:nvPr/>
        </p:nvSpPr>
        <p:spPr>
          <a:xfrm>
            <a:off x="7635240" y="3995928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Guessing at parameters the model should pass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269480" y="4983480"/>
            <a:ext cx="201168" cy="201168"/>
          </a:xfrm>
          <a:prstGeom prst="ellipse">
            <a:avLst/>
          </a:prstGeom>
          <a:solidFill>
            <a:srgbClr val="B8912E"/>
          </a:solidFill>
          <a:ln/>
        </p:spPr>
      </p:sp>
      <p:sp>
        <p:nvSpPr>
          <p:cNvPr id="17" name="Text 15"/>
          <p:cNvSpPr/>
          <p:nvPr/>
        </p:nvSpPr>
        <p:spPr>
          <a:xfrm>
            <a:off x="7635240" y="4864608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Breaking every time an endpoint or model changes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FB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9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CORE DISTINCTION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APIs vs MCP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698480" y="640080"/>
            <a:ext cx="777240" cy="777240"/>
          </a:xfrm>
          <a:prstGeom prst="ellipse">
            <a:avLst/>
          </a:prstGeom>
          <a:solidFill>
            <a:srgbClr val="F2F2F0"/>
          </a:solidFill>
          <a:ln w="19050">
            <a:solidFill>
              <a:srgbClr val="B8912E"/>
            </a:solidFill>
            <a:prstDash val="solid"/>
          </a:ln>
        </p:spPr>
      </p:sp>
      <p:pic>
        <p:nvPicPr>
          <p:cNvPr id="5" name="Image 0" descr="icons/exchange_viol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9648" y="841248"/>
            <a:ext cx="374904" cy="374904"/>
          </a:xfrm>
          <a:prstGeom prst="rect">
            <a:avLst/>
          </a:prstGeom>
        </p:spPr>
      </p:pic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4389120"/>
        </p:xfrm>
        <a:graphic>
          <a:graphicData uri="http://schemas.openxmlformats.org/drawingml/2006/table">
            <a:tbl>
              <a:tblPr/>
              <a:tblGrid>
                <a:gridCol w="2743200"/>
                <a:gridCol w="4114800"/>
                <a:gridCol w="4206240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Traditional API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912E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Who's the client?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445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Another program, or a human via an app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445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AI model itself, via its host application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it's used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445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Developer hardcodes the exact endpoint/fields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445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discovers tools &amp; schemas at runtime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What's exchanged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445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Structured requests/responses for a known contract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445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Machine-readable capability descriptions + calls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Integration effort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445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code per integration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445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 once; any compliant model can use 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Contract type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445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Code-level contract between two applications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445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Semantic protocol between a model and its environment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0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FB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9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UNDER THE HOOD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Host, Client &amp; Server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architecture is a three-way split — not just client/server.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502152" cy="2331720"/>
          </a:xfrm>
          <a:prstGeom prst="roundRect">
            <a:avLst>
              <a:gd name="adj" fmla="val 3137"/>
            </a:avLst>
          </a:prstGeom>
          <a:solidFill>
            <a:srgbClr val="F2F2F0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240280"/>
            <a:ext cx="594360" cy="594360"/>
          </a:xfrm>
          <a:prstGeom prst="ellipse">
            <a:avLst/>
          </a:prstGeom>
          <a:solidFill>
            <a:srgbClr val="B8912E"/>
          </a:solidFill>
          <a:ln/>
        </p:spPr>
      </p:sp>
      <p:pic>
        <p:nvPicPr>
          <p:cNvPr id="7" name="Image 0" descr="icons/desktop_viol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5548" y="237744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2971800"/>
            <a:ext cx="2953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Host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22960" y="3364992"/>
            <a:ext cx="29535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44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application coordinating everything — e.g. Claude Desktop, an IDE, your own agent app.</a:t>
            </a:r>
            <a:endParaRPr lang="en-US" sz="1150" dirty="0"/>
          </a:p>
        </p:txBody>
      </p:sp>
      <p:pic>
        <p:nvPicPr>
          <p:cNvPr id="10" name="Image 1" descr="icons/arrow_viol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9080" y="2971800"/>
            <a:ext cx="201168" cy="20116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325112" y="1965960"/>
            <a:ext cx="3502152" cy="2331720"/>
          </a:xfrm>
          <a:prstGeom prst="roundRect">
            <a:avLst>
              <a:gd name="adj" fmla="val 3137"/>
            </a:avLst>
          </a:prstGeom>
          <a:solidFill>
            <a:srgbClr val="F2F2F0"/>
          </a:solidFill>
          <a:ln/>
        </p:spPr>
      </p:sp>
      <p:sp>
        <p:nvSpPr>
          <p:cNvPr id="12" name="Shape 8"/>
          <p:cNvSpPr/>
          <p:nvPr/>
        </p:nvSpPr>
        <p:spPr>
          <a:xfrm>
            <a:off x="4599432" y="2240280"/>
            <a:ext cx="594360" cy="594360"/>
          </a:xfrm>
          <a:prstGeom prst="ellipse">
            <a:avLst/>
          </a:prstGeom>
          <a:solidFill>
            <a:srgbClr val="B8912E"/>
          </a:solidFill>
          <a:ln/>
        </p:spPr>
      </p:sp>
      <p:pic>
        <p:nvPicPr>
          <p:cNvPr id="13" name="Image 2" descr="icons/plug_viol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2020" y="2377440"/>
            <a:ext cx="320040" cy="3200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599432" y="2971800"/>
            <a:ext cx="2953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4599432" y="3364992"/>
            <a:ext cx="29535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44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component inside the host that maintains a 1-to-1 connection with a single server.</a:t>
            </a:r>
            <a:endParaRPr lang="en-US" sz="1150" dirty="0"/>
          </a:p>
        </p:txBody>
      </p:sp>
      <p:pic>
        <p:nvPicPr>
          <p:cNvPr id="16" name="Image 3" descr="icons/arrow_viole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2971800"/>
            <a:ext cx="201168" cy="201168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01584" y="1965960"/>
            <a:ext cx="3502152" cy="2331720"/>
          </a:xfrm>
          <a:prstGeom prst="roundRect">
            <a:avLst>
              <a:gd name="adj" fmla="val 3137"/>
            </a:avLst>
          </a:prstGeom>
          <a:solidFill>
            <a:srgbClr val="F2F2F0"/>
          </a:solidFill>
          <a:ln/>
        </p:spPr>
      </p:sp>
      <p:sp>
        <p:nvSpPr>
          <p:cNvPr id="18" name="Shape 12"/>
          <p:cNvSpPr/>
          <p:nvPr/>
        </p:nvSpPr>
        <p:spPr>
          <a:xfrm>
            <a:off x="8375904" y="2240280"/>
            <a:ext cx="594360" cy="594360"/>
          </a:xfrm>
          <a:prstGeom prst="ellipse">
            <a:avLst/>
          </a:prstGeom>
          <a:solidFill>
            <a:srgbClr val="B8912E"/>
          </a:solidFill>
          <a:ln/>
        </p:spPr>
      </p:sp>
      <p:pic>
        <p:nvPicPr>
          <p:cNvPr id="19" name="Image 4" descr="icons/server_viole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8492" y="2377440"/>
            <a:ext cx="320040" cy="32004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375904" y="2971800"/>
            <a:ext cx="2953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Server</a:t>
            </a:r>
            <a:endParaRPr lang="en-US" sz="1800" dirty="0"/>
          </a:p>
        </p:txBody>
      </p:sp>
      <p:sp>
        <p:nvSpPr>
          <p:cNvPr id="21" name="Text 14"/>
          <p:cNvSpPr/>
          <p:nvPr/>
        </p:nvSpPr>
        <p:spPr>
          <a:xfrm>
            <a:off x="8375904" y="3364992"/>
            <a:ext cx="29535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44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Exposes the actual capabilities — tools, resources, prompts — via JSON Schema.</a:t>
            </a:r>
            <a:endParaRPr lang="en-US" sz="1150" dirty="0"/>
          </a:p>
        </p:txBody>
      </p:sp>
      <p:sp>
        <p:nvSpPr>
          <p:cNvPr id="22" name="Shape 15"/>
          <p:cNvSpPr/>
          <p:nvPr/>
        </p:nvSpPr>
        <p:spPr>
          <a:xfrm>
            <a:off x="548640" y="457200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1A1A1A"/>
          </a:solidFill>
          <a:ln/>
        </p:spPr>
      </p:sp>
      <p:sp>
        <p:nvSpPr>
          <p:cNvPr id="23" name="Text 16"/>
          <p:cNvSpPr/>
          <p:nvPr/>
        </p:nvSpPr>
        <p:spPr>
          <a:xfrm>
            <a:off x="86868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8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WIRE FORMAT</a:t>
            </a:r>
            <a:endParaRPr lang="en-US" sz="1100" dirty="0"/>
          </a:p>
        </p:txBody>
      </p:sp>
      <p:sp>
        <p:nvSpPr>
          <p:cNvPr id="24" name="Text 17"/>
          <p:cNvSpPr/>
          <p:nvPr/>
        </p:nvSpPr>
        <p:spPr>
          <a:xfrm>
            <a:off x="868680" y="5074920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D9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Underneath both transports — stdio (local) and Streamable HTTP (remote) — MCP messages use JSON-RPC 2.0, the same lightweight format that powers autocomplete in most modern code editors via the Language Server Protocol.</a:t>
            </a:r>
            <a:endParaRPr lang="en-US" sz="1250" dirty="0"/>
          </a:p>
        </p:txBody>
      </p:sp>
      <p:sp>
        <p:nvSpPr>
          <p:cNvPr id="25" name="Text 1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FB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9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BUILDING BLOCKS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MCP's Three Core Primitives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02152" cy="3566160"/>
          </a:xfrm>
          <a:prstGeom prst="roundRect">
            <a:avLst>
              <a:gd name="adj" fmla="val 2089"/>
            </a:avLst>
          </a:prstGeom>
          <a:solidFill>
            <a:srgbClr val="1A1A1A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828800"/>
            <a:ext cx="640080" cy="640080"/>
          </a:xfrm>
          <a:prstGeom prst="ellipse">
            <a:avLst/>
          </a:prstGeom>
          <a:solidFill>
            <a:srgbClr val="B8912E"/>
          </a:solidFill>
          <a:ln/>
        </p:spPr>
      </p:sp>
      <p:pic>
        <p:nvPicPr>
          <p:cNvPr id="6" name="Image 0" descr="icons/tool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1975104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606040"/>
            <a:ext cx="2953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22960" y="3108960"/>
            <a:ext cx="29535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D9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Executable actions the model can invoke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22960" y="3886200"/>
            <a:ext cx="2953512" cy="411480"/>
          </a:xfrm>
          <a:prstGeom prst="roundRect">
            <a:avLst>
              <a:gd name="adj" fmla="val 48889"/>
            </a:avLst>
          </a:prstGeom>
          <a:solidFill>
            <a:srgbClr val="B8912E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3886200"/>
            <a:ext cx="29535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Model-controlled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22960" y="4434840"/>
            <a:ext cx="2953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BFB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Send an email, run a SQL query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325112" y="1554480"/>
            <a:ext cx="3502152" cy="3566160"/>
          </a:xfrm>
          <a:prstGeom prst="roundRect">
            <a:avLst>
              <a:gd name="adj" fmla="val 2089"/>
            </a:avLst>
          </a:prstGeom>
          <a:solidFill>
            <a:srgbClr val="1A1A1A"/>
          </a:solidFill>
          <a:ln/>
        </p:spPr>
      </p:sp>
      <p:sp>
        <p:nvSpPr>
          <p:cNvPr id="13" name="Shape 10"/>
          <p:cNvSpPr/>
          <p:nvPr/>
        </p:nvSpPr>
        <p:spPr>
          <a:xfrm>
            <a:off x="4599432" y="1828800"/>
            <a:ext cx="640080" cy="640080"/>
          </a:xfrm>
          <a:prstGeom prst="ellipse">
            <a:avLst/>
          </a:prstGeom>
          <a:solidFill>
            <a:srgbClr val="B8912E"/>
          </a:solidFill>
          <a:ln/>
        </p:spPr>
      </p:sp>
      <p:pic>
        <p:nvPicPr>
          <p:cNvPr id="14" name="Image 1" descr="icons/databas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5736" y="1975104"/>
            <a:ext cx="347472" cy="34747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599432" y="2606040"/>
            <a:ext cx="2953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Resources</a:t>
            </a:r>
            <a:endParaRPr lang="en-US" sz="2200" dirty="0"/>
          </a:p>
        </p:txBody>
      </p:sp>
      <p:sp>
        <p:nvSpPr>
          <p:cNvPr id="16" name="Text 12"/>
          <p:cNvSpPr/>
          <p:nvPr/>
        </p:nvSpPr>
        <p:spPr>
          <a:xfrm>
            <a:off x="4599432" y="3108960"/>
            <a:ext cx="29535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D9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data exposed by a URI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4599432" y="3886200"/>
            <a:ext cx="2953512" cy="411480"/>
          </a:xfrm>
          <a:prstGeom prst="roundRect">
            <a:avLst>
              <a:gd name="adj" fmla="val 48889"/>
            </a:avLst>
          </a:prstGeom>
          <a:solidFill>
            <a:srgbClr val="B8912E"/>
          </a:solidFill>
          <a:ln/>
        </p:spPr>
      </p:sp>
      <p:sp>
        <p:nvSpPr>
          <p:cNvPr id="18" name="Text 14"/>
          <p:cNvSpPr/>
          <p:nvPr/>
        </p:nvSpPr>
        <p:spPr>
          <a:xfrm>
            <a:off x="4599432" y="3886200"/>
            <a:ext cx="29535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Application-controlled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4599432" y="4434840"/>
            <a:ext cx="2953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BFB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A file's contents, a DB schema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8101584" y="1554480"/>
            <a:ext cx="3502152" cy="3566160"/>
          </a:xfrm>
          <a:prstGeom prst="roundRect">
            <a:avLst>
              <a:gd name="adj" fmla="val 2089"/>
            </a:avLst>
          </a:prstGeom>
          <a:solidFill>
            <a:srgbClr val="1A1A1A"/>
          </a:solidFill>
          <a:ln/>
        </p:spPr>
      </p:sp>
      <p:sp>
        <p:nvSpPr>
          <p:cNvPr id="21" name="Shape 17"/>
          <p:cNvSpPr/>
          <p:nvPr/>
        </p:nvSpPr>
        <p:spPr>
          <a:xfrm>
            <a:off x="8375904" y="1828800"/>
            <a:ext cx="640080" cy="640080"/>
          </a:xfrm>
          <a:prstGeom prst="ellipse">
            <a:avLst/>
          </a:prstGeom>
          <a:solidFill>
            <a:srgbClr val="B8912E"/>
          </a:solidFill>
          <a:ln/>
        </p:spPr>
      </p:sp>
      <p:pic>
        <p:nvPicPr>
          <p:cNvPr id="22" name="Image 2" descr="icons/fil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2208" y="1975104"/>
            <a:ext cx="347472" cy="34747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375904" y="2606040"/>
            <a:ext cx="2953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Prompts</a:t>
            </a:r>
            <a:endParaRPr lang="en-US" sz="2200" dirty="0"/>
          </a:p>
        </p:txBody>
      </p:sp>
      <p:sp>
        <p:nvSpPr>
          <p:cNvPr id="24" name="Text 19"/>
          <p:cNvSpPr/>
          <p:nvPr/>
        </p:nvSpPr>
        <p:spPr>
          <a:xfrm>
            <a:off x="8375904" y="3108960"/>
            <a:ext cx="29535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D9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instruction templates</a:t>
            </a:r>
            <a:endParaRPr lang="en-US" sz="1250" dirty="0"/>
          </a:p>
        </p:txBody>
      </p:sp>
      <p:sp>
        <p:nvSpPr>
          <p:cNvPr id="25" name="Shape 20"/>
          <p:cNvSpPr/>
          <p:nvPr/>
        </p:nvSpPr>
        <p:spPr>
          <a:xfrm>
            <a:off x="8375904" y="3886200"/>
            <a:ext cx="2953512" cy="411480"/>
          </a:xfrm>
          <a:prstGeom prst="roundRect">
            <a:avLst>
              <a:gd name="adj" fmla="val 48889"/>
            </a:avLst>
          </a:prstGeom>
          <a:solidFill>
            <a:srgbClr val="B8912E"/>
          </a:solidFill>
          <a:ln/>
        </p:spPr>
      </p:sp>
      <p:sp>
        <p:nvSpPr>
          <p:cNvPr id="26" name="Text 21"/>
          <p:cNvSpPr/>
          <p:nvPr/>
        </p:nvSpPr>
        <p:spPr>
          <a:xfrm>
            <a:off x="8375904" y="3886200"/>
            <a:ext cx="29535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User-controlled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8375904" y="4434840"/>
            <a:ext cx="2953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BFB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A "summarize this doc" template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548640" y="53492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B89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are things the model does. Resources are things it reads. Prompts are things a user chooses to run.</a:t>
            </a:r>
            <a:endParaRPr lang="en-US" sz="1300" dirty="0"/>
          </a:p>
        </p:txBody>
      </p:sp>
      <p:sp>
        <p:nvSpPr>
          <p:cNvPr id="29" name="Text 24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FB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9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WORKED EXAMPLE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 Ticket Agent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agent with access to Gmail, Notion, and Jira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394960" cy="4114800"/>
          </a:xfrm>
          <a:prstGeom prst="roundRect">
            <a:avLst>
              <a:gd name="adj" fmla="val 1778"/>
            </a:avLst>
          </a:prstGeom>
          <a:solidFill>
            <a:srgbClr val="F2F2F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488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89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REST API APPROACH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265176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34440" y="2651760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integration code for each of the 3 services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68680" y="3456432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34440" y="3456432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pagination, auth tokens, and rate limits separately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68680" y="4261104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34440" y="4261104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the model via long, hardcoded prompts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68680" y="5065776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34440" y="5065776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prompts + code whenever an endpoint changes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126480" y="1920240"/>
            <a:ext cx="5486400" cy="4114800"/>
          </a:xfrm>
          <a:prstGeom prst="roundRect">
            <a:avLst>
              <a:gd name="adj" fmla="val 1778"/>
            </a:avLst>
          </a:prstGeom>
          <a:solidFill>
            <a:srgbClr val="1A1A1A"/>
          </a:solidFill>
          <a:ln/>
        </p:spPr>
      </p:sp>
      <p:sp>
        <p:nvSpPr>
          <p:cNvPr id="16" name="Text 14"/>
          <p:cNvSpPr/>
          <p:nvPr/>
        </p:nvSpPr>
        <p:spPr>
          <a:xfrm>
            <a:off x="6446520" y="21488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MCP APPROACH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46520" y="265176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812280" y="2651760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D9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Gmail, Notion &amp; Jira each expose an MCP-compatible interface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46520" y="3456432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812280" y="3456432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D9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discovers these tools automatically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46520" y="4261104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812280" y="4261104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D9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provide context, not step-by-step instructions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446520" y="5065776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812280" y="5065776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D9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reasons dynamically about which tool fits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FB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9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NOT A REPLACEMENT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 Sits on Top of APIs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444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most commonly misunderstood part of MCP: it does not replace APIs. APIs are still the foundation — MCP changes how models access them.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2208276" y="2423160"/>
            <a:ext cx="7772400" cy="777240"/>
          </a:xfrm>
          <a:prstGeom prst="roundRect">
            <a:avLst>
              <a:gd name="adj" fmla="val 7059"/>
            </a:avLst>
          </a:prstGeom>
          <a:solidFill>
            <a:srgbClr val="B8912E"/>
          </a:solidFill>
          <a:ln/>
        </p:spPr>
      </p:sp>
      <p:sp>
        <p:nvSpPr>
          <p:cNvPr id="6" name="Text 4"/>
          <p:cNvSpPr/>
          <p:nvPr/>
        </p:nvSpPr>
        <p:spPr>
          <a:xfrm>
            <a:off x="2208276" y="242316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208276" y="3355848"/>
            <a:ext cx="7772400" cy="777240"/>
          </a:xfrm>
          <a:prstGeom prst="roundRect">
            <a:avLst>
              <a:gd name="adj" fmla="val 7059"/>
            </a:avLst>
          </a:prstGeom>
          <a:solidFill>
            <a:srgbClr val="D9BE73"/>
          </a:solidFill>
          <a:ln/>
        </p:spPr>
      </p:sp>
      <p:sp>
        <p:nvSpPr>
          <p:cNvPr id="8" name="Text 6"/>
          <p:cNvSpPr/>
          <p:nvPr/>
        </p:nvSpPr>
        <p:spPr>
          <a:xfrm>
            <a:off x="2208276" y="3355848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Client / Server  (translation layer)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208276" y="4288536"/>
            <a:ext cx="7772400" cy="777240"/>
          </a:xfrm>
          <a:prstGeom prst="roundRect">
            <a:avLst>
              <a:gd name="adj" fmla="val 7059"/>
            </a:avLst>
          </a:prstGeom>
          <a:solidFill>
            <a:srgbClr val="F2F2F0"/>
          </a:solidFill>
          <a:ln/>
        </p:spPr>
      </p:sp>
      <p:sp>
        <p:nvSpPr>
          <p:cNvPr id="10" name="Text 8"/>
          <p:cNvSpPr/>
          <p:nvPr/>
        </p:nvSpPr>
        <p:spPr>
          <a:xfrm>
            <a:off x="2208276" y="4288536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REST / GraphQL / gRPC / SOAP APIs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208276" y="5221224"/>
            <a:ext cx="7772400" cy="777240"/>
          </a:xfrm>
          <a:prstGeom prst="roundRect">
            <a:avLst>
              <a:gd name="adj" fmla="val 7059"/>
            </a:avLst>
          </a:prstGeom>
          <a:solidFill>
            <a:srgbClr val="1A1A1A"/>
          </a:solidFill>
          <a:ln/>
        </p:spPr>
      </p:sp>
      <p:sp>
        <p:nvSpPr>
          <p:cNvPr id="12" name="Text 10"/>
          <p:cNvSpPr/>
          <p:nvPr/>
        </p:nvSpPr>
        <p:spPr>
          <a:xfrm>
            <a:off x="2208276" y="5221224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Backend Systems &amp; Databases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208276" y="629107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B89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"MCP vs API" — it's MCP on top of APIs. The client changes from another program to the AI model itself.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FB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9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ORIGIN &amp; ADOPTION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Origin &amp; Adoption Timeline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was designed and open-sourced by Anthropic in November 2024.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2651760"/>
            <a:ext cx="10515600" cy="0"/>
          </a:xfrm>
          <a:prstGeom prst="line">
            <a:avLst/>
          </a:prstGeom>
          <a:noFill/>
          <a:ln w="38100">
            <a:solidFill>
              <a:srgbClr val="E3DDC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27632" y="2542032"/>
            <a:ext cx="219456" cy="219456"/>
          </a:xfrm>
          <a:prstGeom prst="ellipse">
            <a:avLst/>
          </a:prstGeom>
          <a:solidFill>
            <a:srgbClr val="B8912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9659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Nov 2024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971800"/>
            <a:ext cx="2377440" cy="2103120"/>
          </a:xfrm>
          <a:prstGeom prst="roundRect">
            <a:avLst>
              <a:gd name="adj" fmla="val 2609"/>
            </a:avLst>
          </a:prstGeom>
          <a:solidFill>
            <a:srgbClr val="F2F2F0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3108960"/>
            <a:ext cx="21031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444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designs and open-sources MCP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26280" y="2542032"/>
            <a:ext cx="219456" cy="219456"/>
          </a:xfrm>
          <a:prstGeom prst="ellipse">
            <a:avLst/>
          </a:prstGeom>
          <a:solidFill>
            <a:srgbClr val="B8912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47288" y="19659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 26, 2025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447288" y="2971800"/>
            <a:ext cx="2377440" cy="2103120"/>
          </a:xfrm>
          <a:prstGeom prst="roundRect">
            <a:avLst>
              <a:gd name="adj" fmla="val 2609"/>
            </a:avLst>
          </a:prstGeom>
          <a:solidFill>
            <a:srgbClr val="F2F2F0"/>
          </a:solidFill>
          <a:ln/>
        </p:spPr>
      </p:sp>
      <p:sp>
        <p:nvSpPr>
          <p:cNvPr id="13" name="Text 11"/>
          <p:cNvSpPr/>
          <p:nvPr/>
        </p:nvSpPr>
        <p:spPr>
          <a:xfrm>
            <a:off x="3584448" y="3108960"/>
            <a:ext cx="21031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444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Streamable HTTP introduced; OpenAI adopts MCP across Agents SDK/Responses API/ChatGPT desktop; Microsoft ships Playwright-MCP — all same day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415784" y="2542032"/>
            <a:ext cx="219456" cy="219456"/>
          </a:xfrm>
          <a:prstGeom prst="ellipse">
            <a:avLst/>
          </a:prstGeom>
          <a:solidFill>
            <a:srgbClr val="B8912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36792" y="19659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 2025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336792" y="2971800"/>
            <a:ext cx="2377440" cy="2103120"/>
          </a:xfrm>
          <a:prstGeom prst="roundRect">
            <a:avLst>
              <a:gd name="adj" fmla="val 2609"/>
            </a:avLst>
          </a:prstGeom>
          <a:solidFill>
            <a:srgbClr val="F2F2F0"/>
          </a:solidFill>
          <a:ln/>
        </p:spPr>
      </p:sp>
      <p:sp>
        <p:nvSpPr>
          <p:cNvPr id="17" name="Text 15"/>
          <p:cNvSpPr/>
          <p:nvPr/>
        </p:nvSpPr>
        <p:spPr>
          <a:xfrm>
            <a:off x="6473952" y="3108960"/>
            <a:ext cx="21031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444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DeepMind confirms MCP support in Gemini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0314432" y="2542032"/>
            <a:ext cx="219456" cy="219456"/>
          </a:xfrm>
          <a:prstGeom prst="ellipse">
            <a:avLst/>
          </a:prstGeom>
          <a:solidFill>
            <a:srgbClr val="B8912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35440" y="19659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 2025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235440" y="2971800"/>
            <a:ext cx="2377440" cy="2103120"/>
          </a:xfrm>
          <a:prstGeom prst="roundRect">
            <a:avLst>
              <a:gd name="adj" fmla="val 2609"/>
            </a:avLst>
          </a:prstGeom>
          <a:solidFill>
            <a:srgbClr val="F2F2F0"/>
          </a:solidFill>
          <a:ln/>
        </p:spPr>
      </p:sp>
      <p:sp>
        <p:nvSpPr>
          <p:cNvPr id="21" name="Text 19"/>
          <p:cNvSpPr/>
          <p:nvPr/>
        </p:nvSpPr>
        <p:spPr>
          <a:xfrm>
            <a:off x="9372600" y="3108960"/>
            <a:ext cx="21031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444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donates MCP governance to the Agentic AI Foundation (Linux Foundation, co-founded with OpenAI and Block)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FB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9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REALITY CHECK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&amp; Guardrails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02152" cy="4206240"/>
          </a:xfrm>
          <a:prstGeom prst="roundRect">
            <a:avLst>
              <a:gd name="adj" fmla="val 2089"/>
            </a:avLst>
          </a:prstGeom>
          <a:solidFill>
            <a:srgbClr val="1A1A1A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20240"/>
            <a:ext cx="640080" cy="640080"/>
          </a:xfrm>
          <a:prstGeom prst="ellipse">
            <a:avLst/>
          </a:prstGeom>
          <a:solidFill>
            <a:srgbClr val="B8912E"/>
          </a:solidFill>
          <a:ln/>
        </p:spPr>
      </p:sp>
      <p:pic>
        <p:nvPicPr>
          <p:cNvPr id="6" name="Image 0" descr="icons/user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2066544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743200"/>
            <a:ext cx="2953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Adoption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22960" y="3246120"/>
            <a:ext cx="2953512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D9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Servers, clients, and tooling need to converge on the same standard across the industry.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25112" y="1600200"/>
            <a:ext cx="3502152" cy="4206240"/>
          </a:xfrm>
          <a:prstGeom prst="roundRect">
            <a:avLst>
              <a:gd name="adj" fmla="val 2089"/>
            </a:avLst>
          </a:prstGeom>
          <a:solidFill>
            <a:srgbClr val="1A1A1A"/>
          </a:solidFill>
          <a:ln/>
        </p:spPr>
      </p:sp>
      <p:sp>
        <p:nvSpPr>
          <p:cNvPr id="10" name="Shape 7"/>
          <p:cNvSpPr/>
          <p:nvPr/>
        </p:nvSpPr>
        <p:spPr>
          <a:xfrm>
            <a:off x="4599432" y="1920240"/>
            <a:ext cx="640080" cy="640080"/>
          </a:xfrm>
          <a:prstGeom prst="ellipse">
            <a:avLst/>
          </a:prstGeom>
          <a:solidFill>
            <a:srgbClr val="B8912E"/>
          </a:solidFill>
          <a:ln/>
        </p:spPr>
      </p:sp>
      <p:pic>
        <p:nvPicPr>
          <p:cNvPr id="11" name="Image 1" descr="icons/lo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5736" y="2066544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9432" y="2743200"/>
            <a:ext cx="2953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&amp; Control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599432" y="3246120"/>
            <a:ext cx="2953512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D9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that can call tools directly needs clear permission boundaries — capabilities, scopes, and auth are still maturing.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101584" y="1600200"/>
            <a:ext cx="3502152" cy="4206240"/>
          </a:xfrm>
          <a:prstGeom prst="roundRect">
            <a:avLst>
              <a:gd name="adj" fmla="val 2089"/>
            </a:avLst>
          </a:prstGeom>
          <a:solidFill>
            <a:srgbClr val="1A1A1A"/>
          </a:solidFill>
          <a:ln/>
        </p:spPr>
      </p:sp>
      <p:sp>
        <p:nvSpPr>
          <p:cNvPr id="15" name="Shape 11"/>
          <p:cNvSpPr/>
          <p:nvPr/>
        </p:nvSpPr>
        <p:spPr>
          <a:xfrm>
            <a:off x="8375904" y="1920240"/>
            <a:ext cx="640080" cy="640080"/>
          </a:xfrm>
          <a:prstGeom prst="ellipse">
            <a:avLst/>
          </a:prstGeom>
          <a:solidFill>
            <a:srgbClr val="B8912E"/>
          </a:solidFill>
          <a:ln/>
        </p:spPr>
      </p:sp>
      <p:pic>
        <p:nvPicPr>
          <p:cNvPr id="16" name="Image 2" descr="icons/brain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2208" y="2066544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75904" y="2743200"/>
            <a:ext cx="2953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Developer Mindset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8375904" y="3246120"/>
            <a:ext cx="2953512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D9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Shifting from thinking in endpoints and routes to thinking in capabilities and context.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FB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B8912E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640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 Remember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731520" y="1965960"/>
            <a:ext cx="457200" cy="457200"/>
          </a:xfrm>
          <a:prstGeom prst="ellipse">
            <a:avLst/>
          </a:prstGeom>
          <a:solidFill>
            <a:srgbClr val="B8912E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1920240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D9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are built for deterministic program-to-program calls; MCP is built for probabilistic, reasoning-driven tool use.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2926080"/>
            <a:ext cx="457200" cy="457200"/>
          </a:xfrm>
          <a:prstGeom prst="ellipse">
            <a:avLst/>
          </a:prstGeom>
          <a:solidFill>
            <a:srgbClr val="B8912E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26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17320" y="2880360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D9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doesn't compete with REST/GraphQL/gRPC/SOAP — it standardizes how a model discovers and calls the tools behind them.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31520" y="3886200"/>
            <a:ext cx="457200" cy="457200"/>
          </a:xfrm>
          <a:prstGeom prst="ellipse">
            <a:avLst/>
          </a:prstGeom>
          <a:solidFill>
            <a:srgbClr val="B8912E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886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17320" y="3840480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D9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shift: calling logic moves from hardcoded app code into the model's own reasoning layer.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31520" y="4846320"/>
            <a:ext cx="457200" cy="457200"/>
          </a:xfrm>
          <a:prstGeom prst="ellipse">
            <a:avLst/>
          </a:prstGeom>
          <a:solidFill>
            <a:srgbClr val="B8912E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4846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17320" y="4800600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D9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and permissioning are the biggest open challenges — guardrails need to live in the protocol layer.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FB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2286000"/>
            <a:ext cx="5943600" cy="5943600"/>
          </a:xfrm>
          <a:prstGeom prst="ellipse">
            <a:avLst/>
          </a:prstGeom>
          <a:solidFill>
            <a:srgbClr val="B8912E">
              <a:alpha val="18000"/>
            </a:srgbClr>
          </a:solidFill>
          <a:ln/>
        </p:spPr>
      </p:sp>
      <p:pic>
        <p:nvPicPr>
          <p:cNvPr id="3" name="Image 0" descr="icons/rocket_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874520"/>
            <a:ext cx="731520" cy="731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2743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MCP-Aware Is Becoming the Baseline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731520" y="338328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9D4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You'll soon need to know how to make your systems MCP-aware.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31520" y="41148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FB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Thanks for reading — let's build something with it.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31520" y="6035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B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— MODEL CONTEXT PROTOCOL  ·  LP SERIES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MCP — Model Context Protocol</dc:title>
  <dc:subject>PptxGenJS Presentation</dc:subject>
  <dc:creator>LP Series</dc:creator>
  <cp:lastModifiedBy>LP Series</cp:lastModifiedBy>
  <cp:revision>1</cp:revision>
  <dcterms:created xsi:type="dcterms:W3CDTF">2026-07-04T20:40:13Z</dcterms:created>
  <dcterms:modified xsi:type="dcterms:W3CDTF">2026-07-04T20:40:13Z</dcterms:modified>
</cp:coreProperties>
</file>